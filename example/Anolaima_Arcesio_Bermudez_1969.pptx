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Multiple witnesses observed a luminous spherical object. Arcesio approached it and was later taken ill; he died a few days after the sighting. This slide summarizes the core facts reported in Colombian press and later accounts. Key contemporary coverage: El Tiempo (2019 retrospective) and local reports.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The timeline is reconstructed from contemporary newspaper accounts and later summaries. Times are approximate; witness recollections (including hypnotic regressions performed on child witnesses) contributed to the narrative.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Medical reports from the time (recounted in later press retrospectives) emphasized atypical clinical signs. External investigators (APRO) visited and asked about the body. Requests to exhume the corpse were discussed, and later reports claim the coffin was found empty when opened years afterward.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This slide lists hypotheses reported by journalists, ufologists and researchers. None of these explanations is conclusively proven. Responsible reporting highlights witness consistency but also the absence of verifiable physical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An objective assessment notes that eyewitness consistency is valuable but does not replace physical or documentary proof. The reported disappearance of the remains is a key unresolved element that prevents further scientific analysis.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Sources consulted while preparing this presentation include: El Tiempo (detailed retrospective published 2019), Colombia.com (2021 summary), later international recountings and compilations. For rigorous research, request archival newspaper copies from 1969, medical records through family consent, and any investigative files held by UFO research organizations.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Anolaima 1969: The Don Arcesio Bermúdez Case</a:t>
            </a:r>
          </a:p>
        </p:txBody>
      </p:sp>
      <p:sp>
        <p:nvSpPr>
          <p:cNvPr id="3" name="Subtitle 2"/>
          <p:cNvSpPr>
            <a:spLocks noGrp="1"/>
          </p:cNvSpPr>
          <p:nvPr>
            <p:ph type="subTitle" idx="1"/>
          </p:nvPr>
        </p:nvSpPr>
        <p:spPr/>
        <p:txBody>
          <a:bodyPr/>
          <a:lstStyle/>
          <a:p>
            <a:r>
              <a:t>UFO sighting in Anolaima (Cundinamarca, Colombia) — 4 July 1969 | 7-slide summary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pPr>
              <a:defRPr sz="1800"/>
            </a:pPr>
            <a:r>
              <a:t>Date &amp; place: Night of 4 July 1969 — Hacienda ‘Casateja’, near Anolaima (Cundinamarca)</a:t>
            </a:r>
          </a:p>
          <a:p>
            <a:pPr>
              <a:defRPr sz="1800"/>
            </a:pPr>
            <a:r>
              <a:t>Primary witness: Arcesio Bermúdez (about 53 years old) and ~13 other witnesses (adults and children)</a:t>
            </a:r>
          </a:p>
          <a:p>
            <a:pPr>
              <a:defRPr sz="1800"/>
            </a:pPr>
            <a:r>
              <a:t>Object described: luminous, amber-colored, spherical, silent, ~car-sized, hovered near the ground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Chronology (selected moments)</a:t>
            </a:r>
          </a:p>
        </p:txBody>
      </p:sp>
      <p:sp>
        <p:nvSpPr>
          <p:cNvPr id="3" name="Content Placeholder 2"/>
          <p:cNvSpPr>
            <a:spLocks noGrp="1"/>
          </p:cNvSpPr>
          <p:nvPr>
            <p:ph idx="1"/>
          </p:nvPr>
        </p:nvSpPr>
        <p:spPr/>
        <p:txBody>
          <a:bodyPr/>
          <a:lstStyle/>
          <a:p>
            <a:pPr>
              <a:defRPr sz="1800"/>
            </a:pPr>
            <a:r>
              <a:t>~19:00 — Witnesses see a distant light; it approaches the hacienda and hovers ~12 m above ground</a:t>
            </a:r>
          </a:p>
          <a:p>
            <a:pPr>
              <a:defRPr sz="1800"/>
            </a:pPr>
            <a:r>
              <a:t>Arcesio moves toward the object; witnesses (children and adults) see him face-to-face with it for ~4 minutes</a:t>
            </a:r>
          </a:p>
          <a:p>
            <a:pPr>
              <a:defRPr sz="1800"/>
            </a:pPr>
            <a:r>
              <a:t>Immediately after: Arcesio reports chills, collapse; days later he is taken to Bogotá and dies (diagnoses reported: gastroenteritis, pericarditis; anomalously low body temperature)</a:t>
            </a:r>
          </a:p>
          <a:p>
            <a:pPr>
              <a:defRPr sz="1800"/>
            </a:pPr>
            <a:r>
              <a:t>Years later: when the family opened his grave (reportedly at the time of transfer), his body was missing — circumstances remain unclear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Medical &amp; investigative response</a:t>
            </a:r>
          </a:p>
        </p:txBody>
      </p:sp>
      <p:sp>
        <p:nvSpPr>
          <p:cNvPr id="3" name="Content Placeholder 2"/>
          <p:cNvSpPr>
            <a:spLocks noGrp="1"/>
          </p:cNvSpPr>
          <p:nvPr>
            <p:ph idx="1"/>
          </p:nvPr>
        </p:nvSpPr>
        <p:spPr/>
        <p:txBody>
          <a:bodyPr/>
          <a:lstStyle/>
          <a:p>
            <a:pPr>
              <a:defRPr sz="1800"/>
            </a:pPr>
            <a:r>
              <a:t>Local doctors examined Arcesio; some reported unusually low body temperature and gastrointestinal symptoms</a:t>
            </a:r>
          </a:p>
          <a:p>
            <a:pPr>
              <a:defRPr sz="1800"/>
            </a:pPr>
            <a:r>
              <a:t>Physicians cited in reports: diagnoses included severe gastroenteritis and pericarditis; cause of death remained unexplained</a:t>
            </a:r>
          </a:p>
          <a:p>
            <a:pPr>
              <a:defRPr sz="1800"/>
            </a:pPr>
            <a:r>
              <a:t>Investigators: press followed the case; APRO agents (US-based UFO group) reportedly interviewed witnesses and conducted inquiries</a:t>
            </a:r>
          </a:p>
          <a:p>
            <a:pPr>
              <a:defRPr sz="1800"/>
            </a:pPr>
            <a:r>
              <a:t>Hypnosis sessions were conducted with child witnesses to recover memory of the event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explanations &amp; hypotheses</a:t>
            </a:r>
          </a:p>
        </p:txBody>
      </p:sp>
      <p:sp>
        <p:nvSpPr>
          <p:cNvPr id="3" name="Content Placeholder 2"/>
          <p:cNvSpPr>
            <a:spLocks noGrp="1"/>
          </p:cNvSpPr>
          <p:nvPr>
            <p:ph idx="1"/>
          </p:nvPr>
        </p:nvSpPr>
        <p:spPr/>
        <p:txBody>
          <a:bodyPr/>
          <a:lstStyle/>
          <a:p>
            <a:pPr>
              <a:defRPr sz="1800"/>
            </a:pPr>
            <a:r>
              <a:t>Conventional: misidentified aircraft, atmospheric/optical phenomenon, insect/animal-caused infection leading to illness</a:t>
            </a:r>
          </a:p>
          <a:p>
            <a:pPr>
              <a:defRPr sz="1800"/>
            </a:pPr>
            <a:r>
              <a:t>Medical coincidence: pre-existing or acute infection causing rapid deterioration</a:t>
            </a:r>
          </a:p>
          <a:p>
            <a:pPr>
              <a:defRPr sz="1800"/>
            </a:pPr>
            <a:r>
              <a:t>Ufological: electromagnetic/biological effects from an unknown craft; possible retrieval of body by unknown agents or extraterrestrials</a:t>
            </a:r>
          </a:p>
          <a:p>
            <a:pPr>
              <a:defRPr sz="1800"/>
            </a:pPr>
            <a:r>
              <a:t>Other: removal of remains by third parties (rumors include foreign agencies or clandestine individuals); lack of hard evidence keeps all ideas speculative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Evidence assessment</a:t>
            </a:r>
          </a:p>
        </p:txBody>
      </p:sp>
      <p:sp>
        <p:nvSpPr>
          <p:cNvPr id="3" name="Content Placeholder 2"/>
          <p:cNvSpPr>
            <a:spLocks noGrp="1"/>
          </p:cNvSpPr>
          <p:nvPr>
            <p:ph idx="1"/>
          </p:nvPr>
        </p:nvSpPr>
        <p:spPr/>
        <p:txBody>
          <a:bodyPr/>
          <a:lstStyle/>
          <a:p>
            <a:pPr>
              <a:defRPr sz="1800"/>
            </a:pPr>
            <a:r>
              <a:t>Strengths: multiple independent witnesses (children and adults), consistent core descriptions, media coverage contemporaneous to the event</a:t>
            </a:r>
          </a:p>
          <a:p>
            <a:pPr>
              <a:defRPr sz="1800"/>
            </a:pPr>
            <a:r>
              <a:t>Weaknesses: no preserved physical evidence, medical records incomplete in public domain, later gaps (missing remains) hinder forensic follow-up</a:t>
            </a:r>
          </a:p>
          <a:p>
            <a:pPr>
              <a:defRPr sz="1800"/>
            </a:pPr>
            <a:r>
              <a:t>Investigative gaps: limited access to original medical files, conflicting secondary reports, reliance on witness memory and press accounts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&amp; sources</a:t>
            </a:r>
          </a:p>
        </p:txBody>
      </p:sp>
      <p:sp>
        <p:nvSpPr>
          <p:cNvPr id="3" name="Content Placeholder 2"/>
          <p:cNvSpPr>
            <a:spLocks noGrp="1"/>
          </p:cNvSpPr>
          <p:nvPr>
            <p:ph idx="1"/>
          </p:nvPr>
        </p:nvSpPr>
        <p:spPr/>
        <p:txBody>
          <a:bodyPr/>
          <a:lstStyle/>
          <a:p>
            <a:pPr>
              <a:defRPr sz="1800"/>
            </a:pPr>
            <a:r>
              <a:t>Conclusion: The Anolaima/Arcesio Bermúdez case remains an intriguing, unresolved incident with strong witness testimony but no conclusive physical proof. The missing remains and unusual medical details keep the case in ‘unsolved’ status.</a:t>
            </a:r>
          </a:p>
          <a:p>
            <a:pPr>
              <a:defRPr sz="1800"/>
            </a:pPr>
            <a:r>
              <a:t>If researching further: seek original 1969 press archives, medical records (if available), and any APRO or Project Blue Book-related correspondence</a:t>
            </a:r>
          </a:p>
          <a:p>
            <a:pPr>
              <a:defRPr sz="1800"/>
            </a:pPr>
            <a:r>
              <a:t>Selected sources listed in notes (El Tiempo, Colombia.com, international press summaries and later articles)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